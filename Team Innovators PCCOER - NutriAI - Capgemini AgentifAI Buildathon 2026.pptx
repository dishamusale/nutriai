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FBB339-3D06-138D-0543-9E1BA733FF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F8FEE-7FB0-B2C0-74E3-5856932FF7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051AF-6F74-4FC9-9C6C-057CD3A0A5D7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38F7B-43E6-426C-463C-15BE8BCB15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Team NutriAI | Capgemini AgentifAI Buildathon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DCDF4-C3C3-DDA8-DAAF-A103AB3AA8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81E3D-3636-4139-971D-915CA93E8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32133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1581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64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32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56465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47472" y="986197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Personalised Diet Planner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" y="1457621"/>
            <a:ext cx="84582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32466"/>
            <a:ext cx="1664208" cy="1587330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49233"/>
            <a:ext cx="166420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03156"/>
            <a:ext cx="502920" cy="50292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638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8931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Nair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30449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80260" y="1567353"/>
            <a:ext cx="1664208" cy="1552443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0260" y="1557527"/>
            <a:ext cx="166420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47188" y="1715349"/>
            <a:ext cx="502920" cy="50292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188" y="17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53412" y="2192865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Musale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25980" y="27157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13048" y="1549234"/>
            <a:ext cx="1664208" cy="1570562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3048" y="1563285"/>
            <a:ext cx="1664208" cy="914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9976" y="1728895"/>
            <a:ext cx="502920" cy="50292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4386749" y="172889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86200" y="2206919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Musmade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58768" y="27157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58768" y="30449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545836" y="1544998"/>
            <a:ext cx="1664208" cy="1574798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45836" y="1556515"/>
            <a:ext cx="1664208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12764" y="1713319"/>
            <a:ext cx="502920" cy="50292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2764" y="1708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17464" y="221369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Rutuja Biradar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1556" y="27157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91556" y="30449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278624" y="1549233"/>
            <a:ext cx="1664208" cy="1570561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278624" y="1563288"/>
            <a:ext cx="166420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5552" y="1715349"/>
            <a:ext cx="502920" cy="502920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17153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51776" y="2220465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Kadambari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Shendge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24344" y="271576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24344" y="30449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320717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4424" y="3591224"/>
            <a:ext cx="2743200" cy="117043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Shape 41"/>
          <p:cNvSpPr/>
          <p:nvPr/>
        </p:nvSpPr>
        <p:spPr>
          <a:xfrm>
            <a:off x="344424" y="3591224"/>
            <a:ext cx="54864" cy="1170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2440" y="3618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2440" y="3874688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97352" y="3591224"/>
            <a:ext cx="2743200" cy="117043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197352" y="3591224"/>
            <a:ext cx="54864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25368" y="3618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25368" y="3902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50280" y="3591224"/>
            <a:ext cx="2743200" cy="117043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050280" y="3591224"/>
            <a:ext cx="54864" cy="117043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8296" y="3618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78296" y="3984418"/>
            <a:ext cx="2560320" cy="155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59AB735-AC6F-90EB-D8EA-014DF266EC78}"/>
              </a:ext>
            </a:extLst>
          </p:cNvPr>
          <p:cNvSpPr/>
          <p:nvPr/>
        </p:nvSpPr>
        <p:spPr>
          <a:xfrm>
            <a:off x="406908" y="2424855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Architecture Planning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21B446E6-4DA2-DEDE-BE42-E443E5E471BF}"/>
              </a:ext>
            </a:extLst>
          </p:cNvPr>
          <p:cNvSpPr/>
          <p:nvPr/>
        </p:nvSpPr>
        <p:spPr>
          <a:xfrm>
            <a:off x="406908" y="273964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FACDDFC7-2013-9024-C5C6-0DB94E12E296}"/>
              </a:ext>
            </a:extLst>
          </p:cNvPr>
          <p:cNvSpPr/>
          <p:nvPr/>
        </p:nvSpPr>
        <p:spPr>
          <a:xfrm>
            <a:off x="2153412" y="24106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Workflow Design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0765F39B-F233-9749-016B-0D1E294A3FBF}"/>
              </a:ext>
            </a:extLst>
          </p:cNvPr>
          <p:cNvSpPr/>
          <p:nvPr/>
        </p:nvSpPr>
        <p:spPr>
          <a:xfrm>
            <a:off x="2153412" y="272881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14DCDE4A-0170-8095-D593-3E7ED873B4EC}"/>
              </a:ext>
            </a:extLst>
          </p:cNvPr>
          <p:cNvSpPr/>
          <p:nvPr/>
        </p:nvSpPr>
        <p:spPr>
          <a:xfrm>
            <a:off x="3866388" y="2428833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Testing and Research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14EC71FB-FD36-6E21-8FBD-E7AB6BD002A5}"/>
              </a:ext>
            </a:extLst>
          </p:cNvPr>
          <p:cNvSpPr/>
          <p:nvPr/>
        </p:nvSpPr>
        <p:spPr>
          <a:xfrm>
            <a:off x="3866388" y="274997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6374861C-EBCB-88BE-F04C-D7E710A6B150}"/>
              </a:ext>
            </a:extLst>
          </p:cNvPr>
          <p:cNvSpPr/>
          <p:nvPr/>
        </p:nvSpPr>
        <p:spPr>
          <a:xfrm>
            <a:off x="5635752" y="24316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UI/UX Design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05DF55B3-C82D-518F-7EC5-53F70ED6F144}"/>
              </a:ext>
            </a:extLst>
          </p:cNvPr>
          <p:cNvSpPr/>
          <p:nvPr/>
        </p:nvSpPr>
        <p:spPr>
          <a:xfrm>
            <a:off x="5599176" y="275133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85133414-759D-3869-732F-62F8FD60CA9D}"/>
              </a:ext>
            </a:extLst>
          </p:cNvPr>
          <p:cNvSpPr/>
          <p:nvPr/>
        </p:nvSpPr>
        <p:spPr>
          <a:xfrm>
            <a:off x="7287768" y="2441787"/>
            <a:ext cx="1650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1"/>
                </a:solidFill>
              </a:rPr>
              <a:t>Research &amp; Documentation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66DA392C-5F99-5C26-1DE4-290666FDDFC5}"/>
              </a:ext>
            </a:extLst>
          </p:cNvPr>
          <p:cNvSpPr/>
          <p:nvPr/>
        </p:nvSpPr>
        <p:spPr>
          <a:xfrm>
            <a:off x="7333488" y="274997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Engineering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Year</a:t>
            </a:r>
            <a:endParaRPr lang="en-US" sz="11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FAA2A8-768A-5B17-3F1B-B1FB606D4249}"/>
              </a:ext>
            </a:extLst>
          </p:cNvPr>
          <p:cNvSpPr txBox="1"/>
          <p:nvPr/>
        </p:nvSpPr>
        <p:spPr>
          <a:xfrm>
            <a:off x="3372951" y="4857782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528AEA-ACCA-8115-6DEF-79EFD978165A}"/>
              </a:ext>
            </a:extLst>
          </p:cNvPr>
          <p:cNvSpPr txBox="1"/>
          <p:nvPr/>
        </p:nvSpPr>
        <p:spPr>
          <a:xfrm>
            <a:off x="3261360" y="4139863"/>
            <a:ext cx="1412240" cy="261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B0F0"/>
                </a:solidFill>
              </a:rPr>
              <a:t>Styling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1A9DDA-FE1E-6421-D421-2BCEB0FA29F5}"/>
              </a:ext>
            </a:extLst>
          </p:cNvPr>
          <p:cNvSpPr txBox="1"/>
          <p:nvPr/>
        </p:nvSpPr>
        <p:spPr>
          <a:xfrm>
            <a:off x="3252217" y="4401474"/>
            <a:ext cx="11277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D0E8FF"/>
                </a:solidFill>
                <a:latin typeface="+mj-lt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>
              <a:latin typeface="+mj-lt"/>
            </a:endParaRPr>
          </a:p>
          <a:p>
            <a:endParaRPr 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61D37E3-510C-88C2-6004-AAAEC0BF8FC6}"/>
              </a:ext>
            </a:extLst>
          </p:cNvPr>
          <p:cNvSpPr txBox="1"/>
          <p:nvPr/>
        </p:nvSpPr>
        <p:spPr>
          <a:xfrm>
            <a:off x="406908" y="4156627"/>
            <a:ext cx="11201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  <a:p>
            <a:endParaRPr lang="en-US" sz="11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160B13-C3FE-3C9D-D5F3-9196CEF7549C}"/>
              </a:ext>
            </a:extLst>
          </p:cNvPr>
          <p:cNvSpPr txBox="1"/>
          <p:nvPr/>
        </p:nvSpPr>
        <p:spPr>
          <a:xfrm>
            <a:off x="406907" y="4401475"/>
            <a:ext cx="791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Clerk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1C39BE-D901-1AFA-B3B8-0A638C11AE3C}"/>
              </a:ext>
            </a:extLst>
          </p:cNvPr>
          <p:cNvSpPr txBox="1"/>
          <p:nvPr/>
        </p:nvSpPr>
        <p:spPr>
          <a:xfrm>
            <a:off x="6105144" y="4156629"/>
            <a:ext cx="891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2B8735-2064-2680-6265-0A66A2D19DA3}"/>
              </a:ext>
            </a:extLst>
          </p:cNvPr>
          <p:cNvSpPr txBox="1"/>
          <p:nvPr/>
        </p:nvSpPr>
        <p:spPr>
          <a:xfrm>
            <a:off x="6105144" y="4401474"/>
            <a:ext cx="1472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</a:t>
            </a:r>
            <a:r>
              <a:rPr lang="en-US" sz="1000" dirty="0" err="1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7730"/>
            <a:ext cx="54864" cy="51435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485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59521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diet apps don’t work for real users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047838"/>
            <a:ext cx="8458200" cy="457200"/>
          </a:xfrm>
          <a:prstGeom prst="rect">
            <a:avLst/>
          </a:prstGeom>
          <a:solidFill>
            <a:srgbClr val="132545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4783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users abandon diet plans within 2 weeks — not for lack of willpower, but lack of personalisation.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623910"/>
            <a:ext cx="2743200" cy="3246120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23910"/>
            <a:ext cx="2743200" cy="914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7935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1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PERSONALIZATION</a:t>
            </a: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710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01710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Multiple Constraint Support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474302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529846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focus only on calories or macros – one variable at a time</a:t>
            </a:r>
          </a:p>
        </p:txBody>
      </p:sp>
      <p:sp>
        <p:nvSpPr>
          <p:cNvPr id="14" name="Text 11"/>
          <p:cNvSpPr/>
          <p:nvPr/>
        </p:nvSpPr>
        <p:spPr>
          <a:xfrm>
            <a:off x="429768" y="2888325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allergies, budget and prep time resolved together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0624" y="3238169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struggle with personalized meal balancing</a:t>
            </a:r>
          </a:p>
        </p:txBody>
      </p:sp>
      <p:sp>
        <p:nvSpPr>
          <p:cNvPr id="16" name="Shape 13"/>
          <p:cNvSpPr/>
          <p:nvPr/>
        </p:nvSpPr>
        <p:spPr>
          <a:xfrm>
            <a:off x="3200400" y="1623910"/>
            <a:ext cx="2743200" cy="3246120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1623910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177935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INDIAN CONTEXT</a:t>
            </a:r>
            <a:endParaRPr lang="en-US" sz="8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017102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67328" y="201710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Indian Diets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10128" y="2474302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0" y="2543392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rely on Western meals’ datasets with no Indian cuisine coverage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291840" y="2869864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Indian users follow Marathi, South Indian, or Jain dietary patterns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291840" y="3182795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foods and local eating habits are often ignored</a:t>
            </a:r>
          </a:p>
        </p:txBody>
      </p:sp>
      <p:sp>
        <p:nvSpPr>
          <p:cNvPr id="25" name="Shape 21"/>
          <p:cNvSpPr/>
          <p:nvPr/>
        </p:nvSpPr>
        <p:spPr>
          <a:xfrm>
            <a:off x="6035040" y="1615109"/>
            <a:ext cx="2743200" cy="3246120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53328" y="1623910"/>
            <a:ext cx="27432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63056" y="177935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1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TRUST</a:t>
            </a:r>
            <a:endParaRPr lang="en-US" sz="8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01710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20256" y="201710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Explainability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163056" y="2474302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44768" y="2523073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apps give meal recommendations without explaining the reasoning</a:t>
            </a:r>
          </a:p>
        </p:txBody>
      </p:sp>
      <p:sp>
        <p:nvSpPr>
          <p:cNvPr id="32" name="Text 27"/>
          <p:cNvSpPr/>
          <p:nvPr/>
        </p:nvSpPr>
        <p:spPr>
          <a:xfrm>
            <a:off x="6144768" y="2849718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more likely to follow plans they understand</a:t>
            </a:r>
          </a:p>
        </p:txBody>
      </p:sp>
      <p:sp>
        <p:nvSpPr>
          <p:cNvPr id="33" name="Text 28"/>
          <p:cNvSpPr/>
          <p:nvPr/>
        </p:nvSpPr>
        <p:spPr>
          <a:xfrm>
            <a:off x="6153912" y="3166712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reduces long-term consistency</a:t>
            </a: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3270EDA4-2E51-1BDC-E17A-E20E32C7B054}"/>
              </a:ext>
            </a:extLst>
          </p:cNvPr>
          <p:cNvSpPr/>
          <p:nvPr/>
        </p:nvSpPr>
        <p:spPr>
          <a:xfrm>
            <a:off x="418253" y="3568116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recommendations often become repetitive after a few days</a:t>
            </a: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50C61E85-F1D8-6668-B284-A4860129477A}"/>
              </a:ext>
            </a:extLst>
          </p:cNvPr>
          <p:cNvSpPr/>
          <p:nvPr/>
        </p:nvSpPr>
        <p:spPr>
          <a:xfrm>
            <a:off x="406061" y="4270677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easily swap meals while maintaining nutrition balance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7909067F-C27F-CEFC-BAAF-B734488792DD}"/>
              </a:ext>
            </a:extLst>
          </p:cNvPr>
          <p:cNvSpPr/>
          <p:nvPr/>
        </p:nvSpPr>
        <p:spPr>
          <a:xfrm>
            <a:off x="406061" y="394073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planners rarely adapt to changing user goals</a:t>
            </a: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238C16F6-A2D9-136E-4FD9-524A3FF0DA73}"/>
              </a:ext>
            </a:extLst>
          </p:cNvPr>
          <p:cNvSpPr/>
          <p:nvPr/>
        </p:nvSpPr>
        <p:spPr>
          <a:xfrm>
            <a:off x="3273552" y="3522648"/>
            <a:ext cx="2578608" cy="382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meal combinations are difficult to model accurately</a:t>
            </a: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0B486D2D-3B2C-E6B3-2FE8-FD48B479CFF4}"/>
              </a:ext>
            </a:extLst>
          </p:cNvPr>
          <p:cNvSpPr/>
          <p:nvPr/>
        </p:nvSpPr>
        <p:spPr>
          <a:xfrm>
            <a:off x="3282696" y="3839980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Festival-based dietary changes are not supported</a:t>
            </a: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8144F4B5-6FAD-1C53-F352-0D7816EB2831}"/>
              </a:ext>
            </a:extLst>
          </p:cNvPr>
          <p:cNvSpPr/>
          <p:nvPr/>
        </p:nvSpPr>
        <p:spPr>
          <a:xfrm>
            <a:off x="3291840" y="4178047"/>
            <a:ext cx="2578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local ingredients are often missing from recommendations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1AE27C-E7F5-C4F0-1CB3-919196A9531D}"/>
              </a:ext>
            </a:extLst>
          </p:cNvPr>
          <p:cNvSpPr txBox="1"/>
          <p:nvPr/>
        </p:nvSpPr>
        <p:spPr>
          <a:xfrm>
            <a:off x="6064843" y="3427510"/>
            <a:ext cx="25786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verify nutritional reasoning easily</a:t>
            </a:r>
            <a:endParaRPr lang="en-IN" sz="1050" dirty="0">
              <a:solidFill>
                <a:srgbClr val="D0E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13A8AA-73DC-B0D0-EEB0-D91D0A6F2AB6}"/>
              </a:ext>
            </a:extLst>
          </p:cNvPr>
          <p:cNvSpPr txBox="1"/>
          <p:nvPr/>
        </p:nvSpPr>
        <p:spPr>
          <a:xfrm>
            <a:off x="6071616" y="3645222"/>
            <a:ext cx="247802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US" dirty="0"/>
              <a:t>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meal recommendations reduce confidence in the system</a:t>
            </a:r>
            <a:endParaRPr lang="en-IN" sz="1050" dirty="0">
              <a:solidFill>
                <a:srgbClr val="D0E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9E5D8D-CEDA-7C77-3BA3-CFBDE050AB4D}"/>
              </a:ext>
            </a:extLst>
          </p:cNvPr>
          <p:cNvSpPr txBox="1"/>
          <p:nvPr/>
        </p:nvSpPr>
        <p:spPr>
          <a:xfrm>
            <a:off x="6071616" y="4100635"/>
            <a:ext cx="24780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calorie or macro distribution</a:t>
            </a:r>
            <a:endParaRPr lang="en-IN" sz="1050" dirty="0">
              <a:solidFill>
                <a:srgbClr val="D0E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03C30B-E88D-1E38-AB01-FABB1D8099EF}"/>
              </a:ext>
            </a:extLst>
          </p:cNvPr>
          <p:cNvSpPr txBox="1"/>
          <p:nvPr/>
        </p:nvSpPr>
        <p:spPr>
          <a:xfrm>
            <a:off x="3344121" y="4880645"/>
            <a:ext cx="24191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2573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6635" y="6355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NutriAI — Personalized AI Diet Planning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3003" y="1211580"/>
            <a:ext cx="1481328" cy="1719072"/>
          </a:xfrm>
          <a:prstGeom prst="rect">
            <a:avLst/>
          </a:prstGeom>
          <a:solidFill>
            <a:srgbClr val="13254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003" y="1211580"/>
            <a:ext cx="1481328" cy="1097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5923" y="1394460"/>
            <a:ext cx="475488" cy="475488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99" y="143103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155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6155" y="22174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· Goals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Culture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69195" y="2071116"/>
            <a:ext cx="2286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70363" y="2016252"/>
            <a:ext cx="91440" cy="109728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52659" y="1211580"/>
            <a:ext cx="1481328" cy="1719072"/>
          </a:xfrm>
          <a:prstGeom prst="rect">
            <a:avLst/>
          </a:prstGeom>
          <a:solidFill>
            <a:srgbClr val="132545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52659" y="1211580"/>
            <a:ext cx="14813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55579" y="1394460"/>
            <a:ext cx="475488" cy="475488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155" y="143103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125811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125811" y="22174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Validation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Resolution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588851" y="2071116"/>
            <a:ext cx="2286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90019" y="2016252"/>
            <a:ext cx="91440" cy="109728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72315" y="1211580"/>
            <a:ext cx="1481328" cy="1719072"/>
          </a:xfrm>
          <a:prstGeom prst="rect">
            <a:avLst/>
          </a:prstGeom>
          <a:solidFill>
            <a:srgbClr val="132545"/>
          </a:solidFill>
          <a:ln w="12700">
            <a:solidFill>
              <a:srgbClr val="00C9A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72315" y="1211580"/>
            <a:ext cx="1481328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75235" y="1394460"/>
            <a:ext cx="475488" cy="475488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811" y="1431036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45467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945467" y="22174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Gen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Corpus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08507" y="2071116"/>
            <a:ext cx="2286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09675" y="2016252"/>
            <a:ext cx="91440" cy="109728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691971" y="1211580"/>
            <a:ext cx="1481328" cy="1719072"/>
          </a:xfrm>
          <a:prstGeom prst="rect">
            <a:avLst/>
          </a:prstGeom>
          <a:solidFill>
            <a:srgbClr val="132545"/>
          </a:solidFill>
          <a:ln w="12700">
            <a:solidFill>
              <a:srgbClr val="FFB34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691971" y="1211580"/>
            <a:ext cx="1481328" cy="1097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94891" y="1394460"/>
            <a:ext cx="475488" cy="475488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467" y="1431036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765123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765123" y="22174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Menu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· Macros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7228163" y="2071116"/>
            <a:ext cx="2286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29331" y="2016252"/>
            <a:ext cx="91440" cy="109728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511627" y="1211580"/>
            <a:ext cx="1481328" cy="1719072"/>
          </a:xfrm>
          <a:prstGeom prst="rect">
            <a:avLst/>
          </a:prstGeom>
          <a:solidFill>
            <a:srgbClr val="132545"/>
          </a:solidFill>
          <a:ln w="12700">
            <a:solidFill>
              <a:srgbClr val="00B4D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511627" y="1211580"/>
            <a:ext cx="14813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014547" y="1394460"/>
            <a:ext cx="475488" cy="475488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123" y="1431036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584779" y="19431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7584779" y="22174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Cards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Breakdown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Suggestions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347472" y="3090672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347472" y="3401568"/>
            <a:ext cx="4160520" cy="53035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47472" y="3401568"/>
            <a:ext cx="64008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12064" y="34015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Multi-constraint resolution in a single AI inference pass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347472" y="4023360"/>
            <a:ext cx="4160520" cy="53035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347472" y="4023360"/>
            <a:ext cx="64008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12064" y="4023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Regional Indian cuisine corpus — Marathi, Jain, South Indian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4645152" y="3401568"/>
            <a:ext cx="4160520" cy="53035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645152" y="3401568"/>
            <a:ext cx="64008" cy="53035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4809744" y="34015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explainability with rationale for each meal</a:t>
            </a:r>
            <a:endParaRPr lang="en-US" sz="1100" dirty="0"/>
          </a:p>
        </p:txBody>
      </p:sp>
      <p:sp>
        <p:nvSpPr>
          <p:cNvPr id="53" name="Shape 46"/>
          <p:cNvSpPr/>
          <p:nvPr/>
        </p:nvSpPr>
        <p:spPr>
          <a:xfrm>
            <a:off x="4645152" y="4023360"/>
            <a:ext cx="4160520" cy="530352"/>
          </a:xfrm>
          <a:prstGeom prst="rect">
            <a:avLst/>
          </a:prstGeom>
          <a:solidFill>
            <a:srgbClr val="0F2040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4645152" y="4023360"/>
            <a:ext cx="64008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4809744" y="4023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Cost-aware, grouped shopping list auto-generated per plan</a:t>
            </a:r>
            <a:endParaRPr 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4DD954-B259-2669-A763-96BDDFCD131D}"/>
              </a:ext>
            </a:extLst>
          </p:cNvPr>
          <p:cNvSpPr txBox="1"/>
          <p:nvPr/>
        </p:nvSpPr>
        <p:spPr>
          <a:xfrm>
            <a:off x="3179234" y="4862042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4825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1207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682415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technical differentiators no existing tool has combined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020743"/>
            <a:ext cx="8458200" cy="457200"/>
          </a:xfrm>
          <a:prstGeom prst="rect">
            <a:avLst/>
          </a:prstGeom>
          <a:solidFill>
            <a:srgbClr val="1325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074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NutriAI</a:t>
            </a: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culture, constraints, cost and explainability in a unified AI pipeline.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605959"/>
            <a:ext cx="2743200" cy="3255264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605959"/>
            <a:ext cx="27432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1793241"/>
            <a:ext cx="438912" cy="43891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179324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28261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Culture-Aware Retrieval System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739815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281296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data retrieval over a curated regional Indian recipe corpus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317872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Marathi, South Indian, North Indian, Jain, and Sattvic dietary patterns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9768" y="3512483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produce awareness with festival-mode toggle — strong support for Indian regional food patterns.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0624" y="4005751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retrieval filters by state, season, and user allergy profile simultaneously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1605959"/>
            <a:ext cx="2743200" cy="3255264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1605959"/>
            <a:ext cx="2743200" cy="914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61688" y="1793580"/>
            <a:ext cx="438912" cy="43891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61688" y="17935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310128" y="228261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Multi-Constraint Optimiser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310128" y="2739815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91840" y="281296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runs four constraint checks in parallel — not sequentially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91840" y="331588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validation, macro balance, budget fit, and prep-time filter resolved together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291840" y="381880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Multi-constraint optimisation completes before any meal is surfaced to the user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291840" y="432172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single-variable bottleneck that causes all existing planners to fail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053328" y="1605959"/>
            <a:ext cx="2743200" cy="3255264"/>
          </a:xfrm>
          <a:prstGeom prst="rect">
            <a:avLst/>
          </a:prstGeom>
          <a:solidFill>
            <a:srgbClr val="132545"/>
          </a:solidFill>
          <a:ln w="9525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53328" y="1605959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199376" y="1797983"/>
            <a:ext cx="438912" cy="43891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99376" y="179798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163056" y="2282615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Explainable AI Output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163056" y="2739815"/>
            <a:ext cx="2542032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144768" y="281296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meal carries a structured nutritional rationale — macro score, allergy clearance, cost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144768" y="331588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rendered as a user-facing 'Why this meal?' card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144768" y="381880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consumer diet app to implement structured Explainable AI per recommendation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144768" y="4321727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adherence by making AI reasoning visible, auditable, and user-adjustable</a:t>
            </a:r>
            <a:endParaRPr lang="en-US" sz="10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0D011230-4D22-5E44-E3D2-BAB43FB1A626}"/>
              </a:ext>
            </a:extLst>
          </p:cNvPr>
          <p:cNvSpPr/>
          <p:nvPr/>
        </p:nvSpPr>
        <p:spPr>
          <a:xfrm>
            <a:off x="420624" y="4337983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IN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br>
              <a:rPr lang="en-IN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IN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• ₹2500 budget • High protein • 20 min prep</a:t>
            </a:r>
            <a:endParaRPr lang="en-US" sz="1000" dirty="0">
              <a:solidFill>
                <a:srgbClr val="D0E8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670EC1-964A-6A36-8EB6-34CE864AEB72}"/>
              </a:ext>
            </a:extLst>
          </p:cNvPr>
          <p:cNvSpPr txBox="1"/>
          <p:nvPr/>
        </p:nvSpPr>
        <p:spPr>
          <a:xfrm>
            <a:off x="3379724" y="4918743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32545"/>
          </a:solidFill>
          <a:ln w="12700">
            <a:solidFill>
              <a:srgbClr val="13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built with — accurate tech breakdown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2416" y="126187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4285F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28930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18379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8912" y="21945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Model — personalized Indian meal plan generation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68880" y="117043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126187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28930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18379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560320" y="21945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REST API server, Pydantic models, CORS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90288" y="117043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85232" y="126187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61DAF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289304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0288" y="18379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681728" y="21945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SPA with hooks, routing, state mgmt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711696" y="117043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06640" y="126187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38BDF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289304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11696" y="18379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803136" y="21945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Styling — utility-first responsive UI design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347472" y="290779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42416" y="299923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5C35CC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026664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7472" y="3575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438912" y="3931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sign in, sign up, user sessions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2468880" y="290779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163824" y="299923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A000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1256" y="3026664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468880" y="3575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2560320" y="3931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stores user profiles and meal plans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4590288" y="290779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285232" y="299923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3026664"/>
            <a:ext cx="475488" cy="4754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590288" y="3575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4681728" y="3931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— page transitions and UI micro-motion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6711696" y="2907792"/>
            <a:ext cx="1938528" cy="1572768"/>
          </a:xfrm>
          <a:prstGeom prst="roundRect">
            <a:avLst>
              <a:gd name="adj" fmla="val 872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406640" y="2999232"/>
            <a:ext cx="530352" cy="530352"/>
          </a:xfrm>
          <a:prstGeom prst="ellipse">
            <a:avLst/>
          </a:prstGeom>
          <a:solidFill>
            <a:srgbClr val="0F2040"/>
          </a:solidFill>
          <a:ln w="19050">
            <a:solidFill>
              <a:srgbClr val="FFB347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3026664"/>
            <a:ext cx="475488" cy="4754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11696" y="35753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803136" y="3931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Charts — calorie &amp; protein weekly analytics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32545"/>
          </a:solidFill>
          <a:ln w="12700">
            <a:solidFill>
              <a:srgbClr val="13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Flow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" y="1645920"/>
            <a:ext cx="0" cy="14630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143000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43584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81328" y="11795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Lands on NutriAI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81328" y="141732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 — sign in or sign up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4048" y="1773936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8105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30936" y="2276856"/>
            <a:ext cx="0" cy="14630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" y="1773936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745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81328" y="18105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6-Step Questionnaire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481328" y="2048256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info, goals, diet, allergies, budget, health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84048" y="2404872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" y="24414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30936" y="2907792"/>
            <a:ext cx="0" cy="14630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5840" y="2404872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505456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81328" y="244144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Profile Saved to Firebase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1481328" y="267919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data stored in Firestore + localStorage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384048" y="3035808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84048" y="30723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0936" y="3538728"/>
            <a:ext cx="0" cy="14630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005840" y="3035808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36392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81328" y="30723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Generate My 7-Day Plan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1481328" y="331012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button on dashboard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384048" y="3666744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84048" y="3703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630936" y="4169664"/>
            <a:ext cx="0" cy="146304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05840" y="3666744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767328"/>
            <a:ext cx="320040" cy="32004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481328" y="370332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Gemini 2.5 Flash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1481328" y="3941064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sent as a structured prompt to Gemini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384048" y="429768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84048" y="43342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1005840" y="4297680"/>
            <a:ext cx="3749040" cy="530352"/>
          </a:xfrm>
          <a:prstGeom prst="roundRect">
            <a:avLst>
              <a:gd name="adj" fmla="val 1724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398264"/>
            <a:ext cx="320040" cy="32004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481328" y="433425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Meal Plan Displayed &amp; Saved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481328" y="4572000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7-day plan shown on dashboard, saved to Firestore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5074920" y="1097280"/>
            <a:ext cx="3749040" cy="3749040"/>
          </a:xfrm>
          <a:prstGeom prst="roundRect">
            <a:avLst>
              <a:gd name="adj" fmla="val 4390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5193792" y="118872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5212080" y="1572768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F2040"/>
          </a:solidFill>
          <a:ln w="12700">
            <a:solidFill>
              <a:srgbClr val="61DAFB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5212080" y="1572768"/>
            <a:ext cx="109728" cy="54864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94960" y="1627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5394960" y="1847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 + Tailwind CSS + Framer Motion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5212080" y="2203704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F2040"/>
          </a:solidFill>
          <a:ln w="12700">
            <a:solidFill>
              <a:srgbClr val="5C35CC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5212080" y="2203704"/>
            <a:ext cx="109728" cy="548640"/>
          </a:xfrm>
          <a:prstGeom prst="rect">
            <a:avLst/>
          </a:prstGeom>
          <a:solidFill>
            <a:srgbClr val="5C35CC"/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39496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5394960" y="24780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Clerk — sign in, sign up, user management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5212080" y="283464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F2040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5212080" y="2834640"/>
            <a:ext cx="109728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394960" y="2889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2"/>
          <p:cNvSpPr/>
          <p:nvPr/>
        </p:nvSpPr>
        <p:spPr>
          <a:xfrm>
            <a:off x="5394960" y="3108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REST API server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5212080" y="3465576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F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2" name="Shape 54"/>
          <p:cNvSpPr/>
          <p:nvPr/>
        </p:nvSpPr>
        <p:spPr>
          <a:xfrm>
            <a:off x="5212080" y="3465576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539496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539496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— meal plan generation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5212080" y="4096512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F2040"/>
          </a:solidFill>
          <a:ln w="12700">
            <a:solidFill>
              <a:srgbClr val="FFA000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5212080" y="4096512"/>
            <a:ext cx="109728" cy="5486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5394960" y="4151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0"/>
          <p:cNvSpPr/>
          <p:nvPr/>
        </p:nvSpPr>
        <p:spPr>
          <a:xfrm>
            <a:off x="5394960" y="4370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— profiles &amp; meal plan storage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32545"/>
          </a:solidFill>
          <a:ln w="12700">
            <a:solidFill>
              <a:srgbClr val="13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WALKTHROUGH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6-Step User Onboarding → Personalised Plan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2670048" cy="210312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552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 · Age · Gender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Height · Weight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18688" y="11704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704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600200"/>
            <a:ext cx="2670048" cy="210312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261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40480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Fitness Goals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46704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· Muscle Gain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Maintain · Stamina · Digestion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71616" y="11704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1704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1E3A5F">
              <a:alpha val="9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600200"/>
            <a:ext cx="2670048" cy="210312"/>
          </a:xfrm>
          <a:prstGeom prst="rect">
            <a:avLst/>
          </a:prstGeom>
          <a:solidFill>
            <a:srgbClr val="1E3A5F">
              <a:alpha val="90000"/>
            </a:srgbClr>
          </a:solidFill>
          <a:ln w="12700">
            <a:solidFill>
              <a:srgbClr val="1E3A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261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93408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Dietary Preferences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99632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Vegetarian / Vegan / Jain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Cuisine · Cooking time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29992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992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FFB347">
              <a:alpha val="9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29000"/>
            <a:ext cx="2670048" cy="210312"/>
          </a:xfrm>
          <a:prstGeom prst="rect">
            <a:avLst/>
          </a:prstGeom>
          <a:solidFill>
            <a:srgbClr val="FFB347">
              <a:alpha val="90000"/>
            </a:srgbClr>
          </a:solidFill>
          <a:ln w="12700">
            <a:solidFill>
              <a:srgbClr val="FFB347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090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" y="3163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Allergies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Dairy · Gluten · Nuts · Soy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Foods to avoid (custom)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18688" y="29992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29992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5C35CC">
              <a:alpha val="90000"/>
            </a:srgbClr>
          </a:solidFill>
          <a:ln w="12700">
            <a:solidFill>
              <a:srgbClr val="5C35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3429000"/>
            <a:ext cx="2670048" cy="210312"/>
          </a:xfrm>
          <a:prstGeom prst="rect">
            <a:avLst/>
          </a:prstGeom>
          <a:solidFill>
            <a:srgbClr val="5C35CC">
              <a:alpha val="90000"/>
            </a:srgbClr>
          </a:solidFill>
          <a:ln w="12700">
            <a:solidFill>
              <a:srgbClr val="5C35CC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090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840480" y="3163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346704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Under ₹2000 / ₹2000-4000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₹4000-6000 / ₹6000+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71616" y="2999232"/>
            <a:ext cx="2670048" cy="1664208"/>
          </a:xfrm>
          <a:prstGeom prst="roundRect">
            <a:avLst>
              <a:gd name="adj" fmla="val 8791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2999232"/>
            <a:ext cx="2670048" cy="640080"/>
          </a:xfrm>
          <a:prstGeom prst="roundRect">
            <a:avLst>
              <a:gd name="adj" fmla="val 22857"/>
            </a:avLst>
          </a:prstGeom>
          <a:solidFill>
            <a:srgbClr val="4A6B8A">
              <a:alpha val="90000"/>
            </a:srgbClr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1616" y="3429000"/>
            <a:ext cx="2670048" cy="210312"/>
          </a:xfrm>
          <a:prstGeom prst="rect">
            <a:avLst/>
          </a:prstGeom>
          <a:solidFill>
            <a:srgbClr val="4A6B8A">
              <a:alpha val="90000"/>
            </a:srgbClr>
          </a:solidFill>
          <a:ln w="12700">
            <a:solidFill>
              <a:srgbClr val="4A6B8A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30906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693408" y="31638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99632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BP · PCOS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Meals per day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525DBC-5603-506A-4657-2F337720F7FB}"/>
              </a:ext>
            </a:extLst>
          </p:cNvPr>
          <p:cNvSpPr txBox="1"/>
          <p:nvPr/>
        </p:nvSpPr>
        <p:spPr>
          <a:xfrm>
            <a:off x="3379724" y="4918743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32545"/>
          </a:solidFill>
          <a:ln w="12700">
            <a:solidFill>
              <a:srgbClr val="13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one screen — personalised &amp; real-time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42416" y="12618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28930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18470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7-Day Meal Plan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8912" y="21762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recipes per meal — ingredients, steps, calories, macros, prep time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68880" y="11704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12618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28930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18470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Meal Swap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560320" y="21762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Swap any meal to an alternate while maintaining nutritional balance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590288" y="11704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85232" y="12618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1E3A5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289304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90288" y="18470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681728" y="21762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by category: vegetables, proteins, dairy, grains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711696" y="11704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06640" y="12618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4285F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289304"/>
            <a:ext cx="475488" cy="4754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11696" y="18470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803136" y="21762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Calorie &amp; protein tracking across the week via Recharts visualisations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347472" y="29992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42416" y="30906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FFB34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3118104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7472" y="36758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Water Tracker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438912" y="40050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Daily hydration counter (250ml/glass) with circular progress ring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2468880" y="29992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163824" y="30906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00C9A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1256" y="3118104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468880" y="36758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Streak Counter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2560320" y="40050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Daily login streak with motivational messages to build consistency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4590288" y="29992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285232" y="30906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5C35CC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3118104"/>
            <a:ext cx="475488" cy="4754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590288" y="36758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Meal Generator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1"/>
          <p:cNvSpPr/>
          <p:nvPr/>
        </p:nvSpPr>
        <p:spPr>
          <a:xfrm>
            <a:off x="4681728" y="40050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Gemini 2.5 Flash call — returns a full personalised 7-day plan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6711696" y="2999232"/>
            <a:ext cx="1938528" cy="1664208"/>
          </a:xfrm>
          <a:prstGeom prst="roundRect">
            <a:avLst>
              <a:gd name="adj" fmla="val 8242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406640" y="3090672"/>
            <a:ext cx="530352" cy="530352"/>
          </a:xfrm>
          <a:prstGeom prst="ellipse">
            <a:avLst/>
          </a:prstGeom>
          <a:solidFill>
            <a:srgbClr val="0F2040"/>
          </a:solidFill>
          <a:ln w="25400">
            <a:solidFill>
              <a:srgbClr val="4A6B8A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3118104"/>
            <a:ext cx="475488" cy="4754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11696" y="367588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803136" y="4005072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Toggleable theme with persistent preference saved across sessions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2B127A-0180-A6BD-90BD-D8A1ED4A7F1D}"/>
              </a:ext>
            </a:extLst>
          </p:cNvPr>
          <p:cNvSpPr txBox="1"/>
          <p:nvPr/>
        </p:nvSpPr>
        <p:spPr>
          <a:xfrm>
            <a:off x="3379724" y="4918743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32545"/>
          </a:solidFill>
          <a:ln w="12700">
            <a:solidFill>
              <a:srgbClr val="13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generates — based on your real profile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132545"/>
          </a:solidFill>
          <a:ln w="12700">
            <a:solidFill>
              <a:srgbClr val="00C9A7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0700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B34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Profile:  Jain diet  ·  ₹2500/month  ·  High protein  ·  20 min cooking  ·  No dairy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2670048" cy="548640"/>
          </a:xfrm>
          <a:prstGeom prst="roundRect">
            <a:avLst>
              <a:gd name="adj" fmla="val 300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29968"/>
            <a:ext cx="2670048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7393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BREAKFAST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Moong Dal Chilla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" y="2852928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37360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320 kcal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" y="3236976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264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" y="3621024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48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37360" y="3648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34g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" y="4005072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7360" y="4032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462272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3232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min  ·  Moong dal, ginger, green chilli, cumin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218688" y="1755648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18688" y="1755648"/>
            <a:ext cx="2670048" cy="548640"/>
          </a:xfrm>
          <a:prstGeom prst="roundRect">
            <a:avLst>
              <a:gd name="adj" fmla="val 300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18688" y="2029968"/>
            <a:ext cx="2670048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18688" y="177393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328416" y="23774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Rajma Chawal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328416" y="2852928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419856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90288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520 kcal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328416" y="3236976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419856" y="3264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90288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22g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328416" y="3621024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419856" y="3648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590288" y="3648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328416" y="4005072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3419856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590288" y="4032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4462272"/>
            <a:ext cx="182880" cy="18288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35661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30 min  ·  Kidney beans, basmati rice, tomatoes, spices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6071616" y="1755648"/>
            <a:ext cx="2670048" cy="3218688"/>
          </a:xfrm>
          <a:prstGeom prst="roundRect">
            <a:avLst>
              <a:gd name="adj" fmla="val 6164"/>
            </a:avLst>
          </a:prstGeom>
          <a:solidFill>
            <a:srgbClr val="132545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6071616" y="1755648"/>
            <a:ext cx="2670048" cy="548640"/>
          </a:xfrm>
          <a:prstGeom prst="roundRect">
            <a:avLst>
              <a:gd name="adj" fmla="val 300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071616" y="2029968"/>
            <a:ext cx="2670048" cy="27432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8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071616" y="1773936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0A162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DINNER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6181344" y="23774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Tofu Bhurji + Quinoa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6181344" y="2852928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2" name="Text 48"/>
          <p:cNvSpPr/>
          <p:nvPr/>
        </p:nvSpPr>
        <p:spPr>
          <a:xfrm>
            <a:off x="6272784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7443216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440 kcal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6181344" y="3236976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6272784" y="3264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7443216" y="3264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26g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6181344" y="3621024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6272784" y="3648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Carbs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5"/>
          <p:cNvSpPr/>
          <p:nvPr/>
        </p:nvSpPr>
        <p:spPr>
          <a:xfrm>
            <a:off x="7443216" y="3648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46g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6181344" y="4005072"/>
            <a:ext cx="2450592" cy="320040"/>
          </a:xfrm>
          <a:prstGeom prst="roundRect">
            <a:avLst>
              <a:gd name="adj" fmla="val 22857"/>
            </a:avLst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1" name="Text 57"/>
          <p:cNvSpPr/>
          <p:nvPr/>
        </p:nvSpPr>
        <p:spPr>
          <a:xfrm>
            <a:off x="6272784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8"/>
          <p:cNvSpPr/>
          <p:nvPr/>
        </p:nvSpPr>
        <p:spPr>
          <a:xfrm>
            <a:off x="7443216" y="4032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4462272"/>
            <a:ext cx="182880" cy="182880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419088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9B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25 min  ·  Tofu, quinoa, capsicum, kasuri methi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709AA4-E113-49DF-BF1F-BAD8B184745C}"/>
              </a:ext>
            </a:extLst>
          </p:cNvPr>
          <p:cNvSpPr txBox="1"/>
          <p:nvPr/>
        </p:nvSpPr>
        <p:spPr>
          <a:xfrm>
            <a:off x="3379724" y="4918743"/>
            <a:ext cx="23920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NutriAI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| Capgemini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AgentifAI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Buildathon</a:t>
            </a:r>
            <a:r>
              <a:rPr lang="en-IN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02920" y="17830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14032" y="6583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14032" y="877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114032" y="17465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114032" y="2395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14032" y="26151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114032" y="32644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14032" y="34838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114032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114032" y="4352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1247</Words>
  <Application>Microsoft Office PowerPoint</Application>
  <PresentationFormat>On-screen Show (16:9)</PresentationFormat>
  <Paragraphs>263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NutriAI — AI-Powered Personalised Diet Planner</dc:title>
  <dc:subject>PptxGenJS Presentation</dc:subject>
  <dc:creator>PptxGenJS</dc:creator>
  <cp:lastModifiedBy>Disha Musale</cp:lastModifiedBy>
  <cp:revision>34</cp:revision>
  <dcterms:created xsi:type="dcterms:W3CDTF">2026-05-15T06:41:14Z</dcterms:created>
  <dcterms:modified xsi:type="dcterms:W3CDTF">2026-06-14T06:23:04Z</dcterms:modified>
</cp:coreProperties>
</file>